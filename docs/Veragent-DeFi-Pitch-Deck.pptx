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WEB3 HACKATHON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7532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 x  FINANCE &amp; COMMERCE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VERAGENT DEFI  ·  INDONESIA WEB3 HACKATHON 2026  ·  BNB CHAIN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720839" y="8860082"/>
            <a:ext cx="27812" cy="27812"/>
          </a:xfrm>
          <a:prstGeom prst="rect">
            <a:avLst/>
          </a:prstGeom>
          <a:solidFill>
            <a:srgbClr val="FF2BD6">
              <a:alpha val="5815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604759" y="2339075"/>
            <a:ext cx="28768" cy="28768"/>
          </a:xfrm>
          <a:prstGeom prst="rect">
            <a:avLst/>
          </a:prstGeom>
          <a:solidFill>
            <a:srgbClr val="00F0FF">
              <a:alpha val="5483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186577" y="8295572"/>
            <a:ext cx="48779" cy="48779"/>
          </a:xfrm>
          <a:prstGeom prst="rect">
            <a:avLst/>
          </a:prstGeom>
          <a:solidFill>
            <a:srgbClr val="00F0FF">
              <a:alpha val="5606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511" y="4634536"/>
            <a:ext cx="36976" cy="36976"/>
          </a:xfrm>
          <a:prstGeom prst="rect">
            <a:avLst/>
          </a:prstGeom>
          <a:solidFill>
            <a:srgbClr val="00F0FF">
              <a:alpha val="406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9847" y="7721609"/>
            <a:ext cx="19534" cy="19534"/>
          </a:xfrm>
          <a:prstGeom prst="rect">
            <a:avLst/>
          </a:prstGeom>
          <a:solidFill>
            <a:srgbClr val="00F0FF">
              <a:alpha val="5177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47974" y="6012915"/>
            <a:ext cx="39224" cy="39224"/>
          </a:xfrm>
          <a:prstGeom prst="rect">
            <a:avLst/>
          </a:prstGeom>
          <a:solidFill>
            <a:srgbClr val="00F0FF">
              <a:alpha val="5386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4946310" y="898257"/>
            <a:ext cx="20284" cy="20284"/>
          </a:xfrm>
          <a:prstGeom prst="rect">
            <a:avLst/>
          </a:prstGeom>
          <a:solidFill>
            <a:srgbClr val="00F0FF">
              <a:alpha val="3900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00581" y="7722200"/>
            <a:ext cx="38674" cy="38674"/>
          </a:xfrm>
          <a:prstGeom prst="rect">
            <a:avLst/>
          </a:prstGeom>
          <a:solidFill>
            <a:srgbClr val="00F0FF">
              <a:alpha val="5379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22297" y="7793305"/>
            <a:ext cx="37597" cy="37597"/>
          </a:xfrm>
          <a:prstGeom prst="rect">
            <a:avLst/>
          </a:prstGeom>
          <a:solidFill>
            <a:srgbClr val="00F0FF">
              <a:alpha val="5589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5783076" y="7606777"/>
            <a:ext cx="44413" cy="44413"/>
          </a:xfrm>
          <a:prstGeom prst="rect">
            <a:avLst/>
          </a:prstGeom>
          <a:solidFill>
            <a:srgbClr val="00F0FF">
              <a:alpha val="5078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3329522" y="3106658"/>
            <a:ext cx="24847" cy="24847"/>
          </a:xfrm>
          <a:prstGeom prst="rect">
            <a:avLst/>
          </a:prstGeom>
          <a:solidFill>
            <a:srgbClr val="00F0FF">
              <a:alpha val="5837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51387" y="5212833"/>
            <a:ext cx="46563" cy="46563"/>
          </a:xfrm>
          <a:prstGeom prst="rect">
            <a:avLst/>
          </a:prstGeom>
          <a:solidFill>
            <a:srgbClr val="00F0FF">
              <a:alpha val="5966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2282368" y="7146463"/>
            <a:ext cx="48020" cy="48020"/>
          </a:xfrm>
          <a:prstGeom prst="rect">
            <a:avLst/>
          </a:prstGeom>
          <a:solidFill>
            <a:srgbClr val="FF2BD6">
              <a:alpha val="43470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07789" y="3830514"/>
            <a:ext cx="44728" cy="44728"/>
          </a:xfrm>
          <a:prstGeom prst="rect">
            <a:avLst/>
          </a:prstGeom>
          <a:solidFill>
            <a:srgbClr val="00F0FF">
              <a:alpha val="6302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58523" y="8227028"/>
            <a:ext cx="36786" cy="36786"/>
          </a:xfrm>
          <a:prstGeom prst="rect">
            <a:avLst/>
          </a:prstGeom>
          <a:solidFill>
            <a:srgbClr val="FF2BD6">
              <a:alpha val="6267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76746" y="9472848"/>
            <a:ext cx="33774" cy="33774"/>
          </a:xfrm>
          <a:prstGeom prst="rect">
            <a:avLst/>
          </a:prstGeom>
          <a:solidFill>
            <a:srgbClr val="00F0FF">
              <a:alpha val="4455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49384" y="1469857"/>
            <a:ext cx="36976" cy="36976"/>
          </a:xfrm>
          <a:prstGeom prst="rect">
            <a:avLst/>
          </a:prstGeom>
          <a:solidFill>
            <a:srgbClr val="00F0FF">
              <a:alpha val="3524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185546" y="8411980"/>
            <a:ext cx="42937" cy="42937"/>
          </a:xfrm>
          <a:prstGeom prst="rect">
            <a:avLst/>
          </a:prstGeom>
          <a:solidFill>
            <a:srgbClr val="00F0FF">
              <a:alpha val="6241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5189492" y="6162019"/>
            <a:ext cx="36344" cy="36344"/>
          </a:xfrm>
          <a:prstGeom prst="rect">
            <a:avLst/>
          </a:prstGeom>
          <a:solidFill>
            <a:srgbClr val="00F0FF">
              <a:alpha val="5154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2696145" y="5980218"/>
            <a:ext cx="36262" cy="36262"/>
          </a:xfrm>
          <a:prstGeom prst="rect">
            <a:avLst/>
          </a:prstGeom>
          <a:solidFill>
            <a:srgbClr val="00F0FF">
              <a:alpha val="6253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55736" y="6533500"/>
            <a:ext cx="35679" cy="35679"/>
          </a:xfrm>
          <a:prstGeom prst="rect">
            <a:avLst/>
          </a:prstGeom>
          <a:solidFill>
            <a:srgbClr val="00F0FF">
              <a:alpha val="5639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71724" y="7169509"/>
            <a:ext cx="26394" cy="26394"/>
          </a:xfrm>
          <a:prstGeom prst="rect">
            <a:avLst/>
          </a:prstGeom>
          <a:solidFill>
            <a:srgbClr val="FF2BD6">
              <a:alpha val="61937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7180632" y="8937687"/>
            <a:ext cx="45253" cy="45253"/>
          </a:xfrm>
          <a:prstGeom prst="rect">
            <a:avLst/>
          </a:prstGeom>
          <a:solidFill>
            <a:srgbClr val="00F0FF">
              <a:alpha val="5239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10932" y="3357398"/>
            <a:ext cx="49682" cy="49682"/>
          </a:xfrm>
          <a:prstGeom prst="rect">
            <a:avLst/>
          </a:prstGeom>
          <a:solidFill>
            <a:srgbClr val="FF2BD6">
              <a:alpha val="42113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46722" y="4071405"/>
            <a:ext cx="38595" cy="38595"/>
          </a:xfrm>
          <a:prstGeom prst="rect">
            <a:avLst/>
          </a:prstGeom>
          <a:solidFill>
            <a:srgbClr val="00F0FF">
              <a:alpha val="4323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44686" y="1918353"/>
            <a:ext cx="34612" cy="34612"/>
          </a:xfrm>
          <a:prstGeom prst="rect">
            <a:avLst/>
          </a:prstGeom>
          <a:solidFill>
            <a:srgbClr val="00F0FF">
              <a:alpha val="6232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83696" y="8839203"/>
            <a:ext cx="23607" cy="23607"/>
          </a:xfrm>
          <a:prstGeom prst="rect">
            <a:avLst/>
          </a:prstGeom>
          <a:solidFill>
            <a:srgbClr val="FF2BD6">
              <a:alpha val="4706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4237768" y="6823240"/>
            <a:ext cx="43610" cy="43610"/>
          </a:xfrm>
          <a:prstGeom prst="rect">
            <a:avLst/>
          </a:prstGeom>
          <a:solidFill>
            <a:srgbClr val="00F0FF">
              <a:alpha val="5292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6002307" y="4067466"/>
            <a:ext cx="39010" cy="39010"/>
          </a:xfrm>
          <a:prstGeom prst="rect">
            <a:avLst/>
          </a:prstGeom>
          <a:solidFill>
            <a:srgbClr val="00F0FF">
              <a:alpha val="5981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4897305" y="5365286"/>
            <a:ext cx="24128" cy="24128"/>
          </a:xfrm>
          <a:prstGeom prst="rect">
            <a:avLst/>
          </a:prstGeom>
          <a:solidFill>
            <a:srgbClr val="00F0FF">
              <a:alpha val="3875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4795980" y="7001101"/>
            <a:ext cx="44106" cy="44106"/>
          </a:xfrm>
          <a:prstGeom prst="rect">
            <a:avLst/>
          </a:prstGeom>
          <a:solidFill>
            <a:srgbClr val="00F0FF">
              <a:alpha val="5852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3204615" y="6961117"/>
            <a:ext cx="29109" cy="29109"/>
          </a:xfrm>
          <a:prstGeom prst="rect">
            <a:avLst/>
          </a:prstGeom>
          <a:solidFill>
            <a:srgbClr val="FF2BD6">
              <a:alpha val="4238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902882" y="2891176"/>
            <a:ext cx="21907" cy="21907"/>
          </a:xfrm>
          <a:prstGeom prst="rect">
            <a:avLst/>
          </a:prstGeom>
          <a:solidFill>
            <a:srgbClr val="FF2BD6">
              <a:alpha val="4467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853918" y="5370801"/>
            <a:ext cx="42750" cy="42750"/>
          </a:xfrm>
          <a:prstGeom prst="rect">
            <a:avLst/>
          </a:prstGeom>
          <a:solidFill>
            <a:srgbClr val="00F0FF">
              <a:alpha val="5753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6574889" y="2175395"/>
            <a:ext cx="39582" cy="39582"/>
          </a:xfrm>
          <a:prstGeom prst="rect">
            <a:avLst/>
          </a:prstGeom>
          <a:solidFill>
            <a:srgbClr val="00F0FF">
              <a:alpha val="3752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823705" y="2182683"/>
            <a:ext cx="19613" cy="19613"/>
          </a:xfrm>
          <a:prstGeom prst="rect">
            <a:avLst/>
          </a:prstGeom>
          <a:solidFill>
            <a:srgbClr val="00F0FF">
              <a:alpha val="6233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7225584" y="2698147"/>
            <a:ext cx="42209" cy="42209"/>
          </a:xfrm>
          <a:prstGeom prst="rect">
            <a:avLst/>
          </a:prstGeom>
          <a:solidFill>
            <a:srgbClr val="FF2BD6">
              <a:alpha val="4743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354970" y="8855551"/>
            <a:ext cx="41090" cy="41090"/>
          </a:xfrm>
          <a:prstGeom prst="rect">
            <a:avLst/>
          </a:prstGeom>
          <a:solidFill>
            <a:srgbClr val="00F0FF">
              <a:alpha val="427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092335" y="4005618"/>
            <a:ext cx="19911" cy="19911"/>
          </a:xfrm>
          <a:prstGeom prst="rect">
            <a:avLst/>
          </a:prstGeom>
          <a:solidFill>
            <a:srgbClr val="00F0FF">
              <a:alpha val="5923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71376" y="8938672"/>
            <a:ext cx="45150" cy="45150"/>
          </a:xfrm>
          <a:prstGeom prst="rect">
            <a:avLst/>
          </a:prstGeom>
          <a:solidFill>
            <a:srgbClr val="00F0FF">
              <a:alpha val="5574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3168138" y="9387955"/>
            <a:ext cx="36301" cy="36301"/>
          </a:xfrm>
          <a:prstGeom prst="rect">
            <a:avLst/>
          </a:prstGeom>
          <a:solidFill>
            <a:srgbClr val="00F0FF">
              <a:alpha val="5550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141331" y="9125791"/>
            <a:ext cx="25470" cy="25470"/>
          </a:xfrm>
          <a:prstGeom prst="rect">
            <a:avLst/>
          </a:prstGeom>
          <a:solidFill>
            <a:srgbClr val="00F0FF">
              <a:alpha val="6286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305295" y="6478743"/>
            <a:ext cx="22235" cy="22235"/>
          </a:xfrm>
          <a:prstGeom prst="rect">
            <a:avLst/>
          </a:prstGeom>
          <a:solidFill>
            <a:srgbClr val="00F0FF">
              <a:alpha val="4995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256232" y="4538416"/>
            <a:ext cx="27883" cy="27883"/>
          </a:xfrm>
          <a:prstGeom prst="rect">
            <a:avLst/>
          </a:prstGeom>
          <a:solidFill>
            <a:srgbClr val="00F0FF">
              <a:alpha val="4335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403254" y="9119291"/>
            <a:ext cx="38955" cy="38955"/>
          </a:xfrm>
          <a:prstGeom prst="rect">
            <a:avLst/>
          </a:prstGeom>
          <a:solidFill>
            <a:srgbClr val="00F0FF">
              <a:alpha val="4073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1259900" y="5273893"/>
            <a:ext cx="40141" cy="40141"/>
          </a:xfrm>
          <a:prstGeom prst="rect">
            <a:avLst/>
          </a:prstGeom>
          <a:solidFill>
            <a:srgbClr val="FF2BD6">
              <a:alpha val="5756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7242533" y="4262464"/>
            <a:ext cx="18501" cy="18501"/>
          </a:xfrm>
          <a:prstGeom prst="rect">
            <a:avLst/>
          </a:prstGeom>
          <a:solidFill>
            <a:srgbClr val="FF2BD6">
              <a:alpha val="6376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119944" y="4751928"/>
            <a:ext cx="31030" cy="31030"/>
          </a:xfrm>
          <a:prstGeom prst="rect">
            <a:avLst/>
          </a:prstGeom>
          <a:solidFill>
            <a:srgbClr val="00F0FF">
              <a:alpha val="5033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5877032" y="6089929"/>
            <a:ext cx="37525" cy="37525"/>
          </a:xfrm>
          <a:prstGeom prst="rect">
            <a:avLst/>
          </a:prstGeom>
          <a:solidFill>
            <a:srgbClr val="00F0FF">
              <a:alpha val="4608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178160" y="9325910"/>
            <a:ext cx="42827" cy="42827"/>
          </a:xfrm>
          <a:prstGeom prst="rect">
            <a:avLst/>
          </a:prstGeom>
          <a:solidFill>
            <a:srgbClr val="00F0FF">
              <a:alpha val="5424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914681" y="5979233"/>
            <a:ext cx="36366" cy="36366"/>
          </a:xfrm>
          <a:prstGeom prst="rect">
            <a:avLst/>
          </a:prstGeom>
          <a:solidFill>
            <a:srgbClr val="FF2BD6">
              <a:alpha val="5917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7589251" y="9692664"/>
            <a:ext cx="49060" cy="49060"/>
          </a:xfrm>
          <a:prstGeom prst="rect">
            <a:avLst/>
          </a:prstGeom>
          <a:solidFill>
            <a:srgbClr val="FF2BD6">
              <a:alpha val="43005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877115" y="2115123"/>
            <a:ext cx="39520" cy="39520"/>
          </a:xfrm>
          <a:prstGeom prst="rect">
            <a:avLst/>
          </a:prstGeom>
          <a:solidFill>
            <a:srgbClr val="00F0FF">
              <a:alpha val="4230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029304" y="4377296"/>
            <a:ext cx="25626" cy="25626"/>
          </a:xfrm>
          <a:prstGeom prst="rect">
            <a:avLst/>
          </a:prstGeom>
          <a:solidFill>
            <a:srgbClr val="00F0FF">
              <a:alpha val="64756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38396" y="7658185"/>
            <a:ext cx="45407" cy="45407"/>
          </a:xfrm>
          <a:prstGeom prst="rect">
            <a:avLst/>
          </a:prstGeom>
          <a:solidFill>
            <a:srgbClr val="00F0FF">
              <a:alpha val="4582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1280160" y="2926080"/>
            <a:ext cx="1554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VERAGENT</a:t>
            </a:r>
            <a:endParaRPr lang="en-US" sz="7200" dirty="0"/>
          </a:p>
        </p:txBody>
      </p:sp>
      <p:sp>
        <p:nvSpPr>
          <p:cNvPr id="70" name="Text 68"/>
          <p:cNvSpPr/>
          <p:nvPr/>
        </p:nvSpPr>
        <p:spPr>
          <a:xfrm>
            <a:off x="1280160" y="3886200"/>
            <a:ext cx="15544800" cy="86868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00F0FF">
                <a:alpha val="9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1200" kern="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</a:t>
            </a:r>
            <a:endParaRPr lang="en-US" sz="6400" dirty="0"/>
          </a:p>
        </p:txBody>
      </p:sp>
      <p:sp>
        <p:nvSpPr>
          <p:cNvPr id="71" name="Text 69"/>
          <p:cNvSpPr/>
          <p:nvPr/>
        </p:nvSpPr>
        <p:spPr>
          <a:xfrm>
            <a:off x="1280160" y="4983480"/>
            <a:ext cx="1280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DeFi agents that manage yield, rebalance, and earn —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onchain, trustless, self-funding on BNB Chain.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1280160" y="7863840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Built by Abraham Yusuf  ·  Web3ID  ·  github.com/abraham-yusuf/Veragent-DeFi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7532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DEFI STAYS HARD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VERAGENT DEFI  ·  INDONESIA WEB3 HACKATHON 2026  ·  BNB CHAIN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PROBLEM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1417320"/>
            <a:ext cx="1463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is powerful — but still human-heavy.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1280160" y="2377440"/>
            <a:ext cx="7498080" cy="2286000"/>
          </a:xfrm>
          <a:prstGeom prst="roundRect">
            <a:avLst>
              <a:gd name="adj" fmla="val 4800"/>
            </a:avLst>
          </a:prstGeom>
          <a:solidFill>
            <a:srgbClr val="0A111A"/>
          </a:solidFill>
          <a:ln/>
          <a:effectLst>
            <a:outerShdw sx="100000" sy="100000" kx="0" ky="0" algn="bl" rotWithShape="0" blurRad="101600" dist="25400" dir="16200000">
              <a:srgbClr val="00F0FF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80160" y="2377440"/>
            <a:ext cx="109728" cy="22860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8" name="Text 16"/>
          <p:cNvSpPr/>
          <p:nvPr/>
        </p:nvSpPr>
        <p:spPr>
          <a:xfrm>
            <a:off x="1691640" y="2743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ops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91640" y="33375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chase APY, rebalance LP, and exit risk by hand — 24/7 is impossible.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26880" y="2377440"/>
            <a:ext cx="7498080" cy="2286000"/>
          </a:xfrm>
          <a:prstGeom prst="roundRect">
            <a:avLst>
              <a:gd name="adj" fmla="val 4800"/>
            </a:avLst>
          </a:prstGeom>
          <a:solidFill>
            <a:srgbClr val="0A111A"/>
          </a:solidFill>
          <a:ln/>
          <a:effectLst>
            <a:outerShdw sx="100000" sy="100000" kx="0" ky="0" algn="bl" rotWithShape="0" blurRad="101600" dist="25400" dir="16200000">
              <a:srgbClr val="00F0FF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880" y="2377440"/>
            <a:ext cx="109728" cy="2286000"/>
          </a:xfrm>
          <a:prstGeom prst="rect">
            <a:avLst/>
          </a:prstGeom>
          <a:solidFill>
            <a:srgbClr val="FF2BD6"/>
          </a:solidFill>
          <a:ln/>
        </p:spPr>
      </p:sp>
      <p:sp>
        <p:nvSpPr>
          <p:cNvPr id="22" name="Text 20"/>
          <p:cNvSpPr/>
          <p:nvPr/>
        </p:nvSpPr>
        <p:spPr>
          <a:xfrm>
            <a:off x="9738360" y="2743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gap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38360" y="33375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Bots and vaults exist, but reputation is off-chain. Hard to know which agent is safe.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80160" y="5029200"/>
            <a:ext cx="7498080" cy="2286000"/>
          </a:xfrm>
          <a:prstGeom prst="roundRect">
            <a:avLst>
              <a:gd name="adj" fmla="val 4800"/>
            </a:avLst>
          </a:prstGeom>
          <a:solidFill>
            <a:srgbClr val="0A111A"/>
          </a:solidFill>
          <a:ln/>
          <a:effectLst>
            <a:outerShdw sx="100000" sy="100000" kx="0" ky="0" algn="bl" rotWithShape="0" blurRad="101600" dist="25400" dir="16200000">
              <a:srgbClr val="00F0FF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280160" y="5029200"/>
            <a:ext cx="109728" cy="22860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1691640" y="5394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agents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91640" y="59893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AI + RPC costs money. Most agents die when the builder stops paying.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26880" y="5029200"/>
            <a:ext cx="7498080" cy="2286000"/>
          </a:xfrm>
          <a:prstGeom prst="roundRect">
            <a:avLst>
              <a:gd name="adj" fmla="val 4800"/>
            </a:avLst>
          </a:prstGeom>
          <a:solidFill>
            <a:srgbClr val="0A111A"/>
          </a:solidFill>
          <a:ln/>
          <a:effectLst>
            <a:outerShdw sx="100000" sy="100000" kx="0" ky="0" algn="bl" rotWithShape="0" blurRad="101600" dist="25400" dir="16200000">
              <a:srgbClr val="00F0FF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26880" y="5029200"/>
            <a:ext cx="109728" cy="2286000"/>
          </a:xfrm>
          <a:prstGeom prst="rect">
            <a:avLst/>
          </a:prstGeom>
          <a:solidFill>
            <a:srgbClr val="FF2BD6"/>
          </a:solidFill>
          <a:ln/>
        </p:spPr>
      </p:sp>
      <p:sp>
        <p:nvSpPr>
          <p:cNvPr id="30" name="Text 28"/>
          <p:cNvSpPr/>
          <p:nvPr/>
        </p:nvSpPr>
        <p:spPr>
          <a:xfrm>
            <a:off x="9738360" y="5394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lock-in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738360" y="59893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agent stacks are Base/Solana-only. Indonesia builders need BNB Chain first.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7532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DEFI HUB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VERAGENT DEFI  ·  INDONESIA WEB3 HACKATHON 2026  ·  BNB CHAIN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1417320"/>
            <a:ext cx="1554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Veragent: hire autonomous agents that work onchain.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80160" y="2103120"/>
            <a:ext cx="1463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decentralized hub to deploy, trust, and monetize AI agents for DeFi 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on BNB Chain for Indonesia builders.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43891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and deploy agents by specialty: yield, rebalance, risk exit.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9496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Onchain identity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43891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ERC-8004 registry — reputation and performance as portable NFT identity.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0976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0976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Self-funding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509760" y="43891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micropayments + agent token fees so agents can pay their own compute.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62456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62456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BNB-native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3624560" y="43891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PancakeSwap + Venus integrations. Built for the chain this hackathon sponsors.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7532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VERAGENT DEFI  ·  INDONESIA WEB3 HACKATHON 2026  ·  BNB CHAIN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1417320"/>
            <a:ext cx="1463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connect wallet to autonomous yield in four steps.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371600" y="2331720"/>
            <a:ext cx="685800" cy="685800"/>
          </a:xfrm>
          <a:prstGeom prst="ellipse">
            <a:avLst/>
          </a:prstGeom>
          <a:solidFill>
            <a:srgbClr val="0A2A30"/>
          </a:solidFill>
          <a:ln w="19050">
            <a:solidFill>
              <a:srgbClr val="00F0FF"/>
            </a:solidFill>
            <a:prstDash val="solid"/>
          </a:ln>
          <a:effectLst>
            <a:outerShdw sx="100000" sy="100000" kx="0" ky="0" algn="bl" rotWithShape="0" blurRad="76200" dist="50800" dir="16200000">
              <a:srgbClr val="00F0FF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1600" y="24231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664208" y="3063240"/>
            <a:ext cx="73152" cy="777240"/>
          </a:xfrm>
          <a:prstGeom prst="rect">
            <a:avLst/>
          </a:prstGeom>
          <a:solidFill>
            <a:srgbClr val="3A4555"/>
          </a:solidFill>
          <a:ln/>
        </p:spPr>
      </p:sp>
      <p:sp>
        <p:nvSpPr>
          <p:cNvPr id="19" name="Text 17"/>
          <p:cNvSpPr/>
          <p:nvPr/>
        </p:nvSpPr>
        <p:spPr>
          <a:xfrm>
            <a:off x="2377440" y="2286000"/>
            <a:ext cx="1280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377440" y="274320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on BSC Testnet / Mainnet. Agent registry reads onchain identity.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3886200"/>
            <a:ext cx="685800" cy="685800"/>
          </a:xfrm>
          <a:prstGeom prst="ellipse">
            <a:avLst/>
          </a:prstGeom>
          <a:solidFill>
            <a:srgbClr val="0A2A30"/>
          </a:solidFill>
          <a:ln w="19050">
            <a:solidFill>
              <a:srgbClr val="00F0FF"/>
            </a:solidFill>
            <a:prstDash val="solid"/>
          </a:ln>
          <a:effectLst>
            <a:outerShdw sx="100000" sy="100000" kx="0" ky="0" algn="bl" rotWithShape="0" blurRad="76200" dist="50800" dir="16200000">
              <a:srgbClr val="00F0FF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71600" y="39776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664208" y="4617720"/>
            <a:ext cx="73152" cy="777240"/>
          </a:xfrm>
          <a:prstGeom prst="rect">
            <a:avLst/>
          </a:prstGeom>
          <a:solidFill>
            <a:srgbClr val="3A4555"/>
          </a:solidFill>
          <a:ln/>
        </p:spPr>
      </p:sp>
      <p:sp>
        <p:nvSpPr>
          <p:cNvPr id="24" name="Text 22"/>
          <p:cNvSpPr/>
          <p:nvPr/>
        </p:nvSpPr>
        <p:spPr>
          <a:xfrm>
            <a:off x="2377440" y="3840480"/>
            <a:ext cx="1280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agent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377440" y="429768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reputation (ERC-8004), ROI history, and strategy template.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71600" y="5440680"/>
            <a:ext cx="685800" cy="685800"/>
          </a:xfrm>
          <a:prstGeom prst="ellipse">
            <a:avLst/>
          </a:prstGeom>
          <a:solidFill>
            <a:srgbClr val="0A2A30"/>
          </a:solidFill>
          <a:ln w="19050">
            <a:solidFill>
              <a:srgbClr val="00F0FF"/>
            </a:solidFill>
            <a:prstDash val="solid"/>
          </a:ln>
          <a:effectLst>
            <a:outerShdw sx="100000" sy="100000" kx="0" ky="0" algn="bl" rotWithShape="0" blurRad="76200" dist="50800" dir="16200000">
              <a:srgbClr val="00F0FF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71600" y="55321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664208" y="6172200"/>
            <a:ext cx="73152" cy="777240"/>
          </a:xfrm>
          <a:prstGeom prst="rect">
            <a:avLst/>
          </a:prstGeom>
          <a:solidFill>
            <a:srgbClr val="3A4555"/>
          </a:solidFill>
          <a:ln/>
        </p:spPr>
      </p:sp>
      <p:sp>
        <p:nvSpPr>
          <p:cNvPr id="29" name="Text 27"/>
          <p:cNvSpPr/>
          <p:nvPr/>
        </p:nvSpPr>
        <p:spPr>
          <a:xfrm>
            <a:off x="2377440" y="5394960"/>
            <a:ext cx="1280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and permission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377440" y="585216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capital and limits. Agent wallet isolated; user stays in control.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371600" y="6995160"/>
            <a:ext cx="685800" cy="685800"/>
          </a:xfrm>
          <a:prstGeom prst="ellipse">
            <a:avLst/>
          </a:prstGeom>
          <a:solidFill>
            <a:srgbClr val="0A2A30"/>
          </a:solidFill>
          <a:ln w="19050">
            <a:solidFill>
              <a:srgbClr val="00F0FF"/>
            </a:solidFill>
            <a:prstDash val="solid"/>
          </a:ln>
          <a:effectLst>
            <a:outerShdw sx="100000" sy="100000" kx="0" ky="0" algn="bl" rotWithShape="0" blurRad="76200" dist="50800" dir="16200000">
              <a:srgbClr val="00F0FF">
                <a:alpha val="5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371600" y="70866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377440" y="6949440"/>
            <a:ext cx="1280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execute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377440" y="7406640"/>
            <a:ext cx="1280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APY, swap via Pancake, supply Venus, rebalance. Logs and alerts live.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FIT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7532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VERAGENT DEFI  ·  INDONESIA WEB3 HACKATHON 2026  ·  BNB CHAIN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TRACKS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1417320"/>
            <a:ext cx="1463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project. Two tracks.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280160" y="2194560"/>
            <a:ext cx="7589520" cy="5943600"/>
          </a:xfrm>
          <a:prstGeom prst="roundRect">
            <a:avLst>
              <a:gd name="adj" fmla="val 2308"/>
            </a:avLst>
          </a:prstGeom>
          <a:solidFill>
            <a:srgbClr val="0A111A"/>
          </a:solidFill>
          <a:ln/>
          <a:effectLst>
            <a:outerShdw sx="100000" sy="100000" kx="0" ky="0" algn="bl" rotWithShape="0" blurRad="127000" dist="25400" dir="16200000">
              <a:srgbClr val="00F0FF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45920" y="2514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017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onchain actors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45920" y="3840480"/>
            <a:ext cx="6858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ElizaOS orchestration + OpenClaw / Nanobot execution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decide and act without constant human input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ERC-8004 identity + reputation onchain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Templates: yield sniper, rebalancer, risk sentinel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18320" y="2194560"/>
            <a:ext cx="7589520" cy="5943600"/>
          </a:xfrm>
          <a:prstGeom prst="roundRect">
            <a:avLst>
              <a:gd name="adj" fmla="val 2308"/>
            </a:avLst>
          </a:prstGeom>
          <a:solidFill>
            <a:srgbClr val="0A111A"/>
          </a:solidFill>
          <a:ln/>
          <a:effectLst>
            <a:outerShdw sx="100000" sy="100000" kx="0" ky="0" algn="bl" rotWithShape="0" blurRad="127000" dist="25400" dir="16200000">
              <a:srgbClr val="FF2BD6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84080" y="2514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FF2BD6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FINANCE &amp; COMMERCE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84080" y="30175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DeFi flows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784080" y="3840480"/>
            <a:ext cx="6858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PancakeSwap swaps + Venus lending on BSC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micropayments for agent fees and M2M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Self-sustaining agents via fee / token loops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Indonesian capital efficiency on BNB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7532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VERAGENT DEFI  ·  INDONESIA WEB3 HACKATHON 2026  ·  BNB CHAIN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1417320"/>
            <a:ext cx="1463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Production-minded primitives, not vaporware.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280160" y="2194560"/>
            <a:ext cx="15727680" cy="868680"/>
          </a:xfrm>
          <a:prstGeom prst="roundRect">
            <a:avLst>
              <a:gd name="adj" fmla="val 8421"/>
            </a:avLst>
          </a:prstGeom>
          <a:solidFill>
            <a:srgbClr val="0A111A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2395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Agents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2395728"/>
            <a:ext cx="1170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ElizaOS  ·  OpenClaw  ·  Nanobot HKUDS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80160" y="3200400"/>
            <a:ext cx="15727680" cy="868680"/>
          </a:xfrm>
          <a:prstGeom prst="roundRect">
            <a:avLst>
              <a:gd name="adj" fmla="val 8421"/>
            </a:avLst>
          </a:prstGeom>
          <a:solidFill>
            <a:srgbClr val="0A111A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3401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Identity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3401568"/>
            <a:ext cx="1170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ERC-8004 registry (ERC-721)  ·  AgentNameResolver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80160" y="4206240"/>
            <a:ext cx="15727680" cy="868680"/>
          </a:xfrm>
          <a:prstGeom prst="roundRect">
            <a:avLst>
              <a:gd name="adj" fmla="val 8421"/>
            </a:avLst>
          </a:prstGeom>
          <a:solidFill>
            <a:srgbClr val="0A111A"/>
          </a:solidFill>
          <a:ln/>
        </p:spPr>
      </p:sp>
      <p:sp>
        <p:nvSpPr>
          <p:cNvPr id="23" name="Text 21"/>
          <p:cNvSpPr/>
          <p:nvPr/>
        </p:nvSpPr>
        <p:spPr>
          <a:xfrm>
            <a:off x="1554480" y="4407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Payments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54880" y="4407408"/>
            <a:ext cx="1170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protocol  ·  agent-to-agent micropayments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80160" y="5212080"/>
            <a:ext cx="15727680" cy="868680"/>
          </a:xfrm>
          <a:prstGeom prst="roundRect">
            <a:avLst>
              <a:gd name="adj" fmla="val 8421"/>
            </a:avLst>
          </a:prstGeom>
          <a:solidFill>
            <a:srgbClr val="0A111A"/>
          </a:solidFill>
          <a:ln/>
        </p:spPr>
      </p:sp>
      <p:sp>
        <p:nvSpPr>
          <p:cNvPr id="26" name="Text 24"/>
          <p:cNvSpPr/>
          <p:nvPr/>
        </p:nvSpPr>
        <p:spPr>
          <a:xfrm>
            <a:off x="155448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Chain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54880" y="5413248"/>
            <a:ext cx="1170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BNB Smart Chain (56)  ·  BSC Testnet (97)  ·  Base optional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80160" y="6217920"/>
            <a:ext cx="15727680" cy="868680"/>
          </a:xfrm>
          <a:prstGeom prst="roundRect">
            <a:avLst>
              <a:gd name="adj" fmla="val 8421"/>
            </a:avLst>
          </a:prstGeom>
          <a:solidFill>
            <a:srgbClr val="0A111A"/>
          </a:solidFill>
          <a:ln/>
        </p:spPr>
      </p:sp>
      <p:sp>
        <p:nvSpPr>
          <p:cNvPr id="29" name="Text 27"/>
          <p:cNvSpPr/>
          <p:nvPr/>
        </p:nvSpPr>
        <p:spPr>
          <a:xfrm>
            <a:off x="1554480" y="6419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54880" y="6419088"/>
            <a:ext cx="1170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PancakeSwap Smart Router  ·  Venus Comptroller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80160" y="7223760"/>
            <a:ext cx="15727680" cy="868680"/>
          </a:xfrm>
          <a:prstGeom prst="roundRect">
            <a:avLst>
              <a:gd name="adj" fmla="val 8421"/>
            </a:avLst>
          </a:prstGeom>
          <a:solidFill>
            <a:srgbClr val="0A111A"/>
          </a:solidFill>
          <a:ln/>
        </p:spPr>
      </p:sp>
      <p:sp>
        <p:nvSpPr>
          <p:cNvPr id="32" name="Text 30"/>
          <p:cNvSpPr/>
          <p:nvPr/>
        </p:nvSpPr>
        <p:spPr>
          <a:xfrm>
            <a:off x="1554480" y="74249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App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54880" y="7424928"/>
            <a:ext cx="1170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 ·  Wagmi  ·  RainbowKit  ·  Hardhat 3  ·  ethers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7532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VERAGENT DEFI  ·  INDONESIA WEB3 HACKATHON 2026  ·  BNB CHAIN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1417320"/>
            <a:ext cx="1463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for autonomy and auditability.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280160" y="2148840"/>
            <a:ext cx="15727680" cy="1325880"/>
          </a:xfrm>
          <a:prstGeom prst="roundRect">
            <a:avLst>
              <a:gd name="adj" fmla="val 6897"/>
            </a:avLst>
          </a:prstGeom>
          <a:solidFill>
            <a:srgbClr val="0A111A"/>
          </a:solidFill>
          <a:ln/>
        </p:spPr>
      </p:sp>
      <p:sp>
        <p:nvSpPr>
          <p:cNvPr id="17" name="Shape 15"/>
          <p:cNvSpPr/>
          <p:nvPr/>
        </p:nvSpPr>
        <p:spPr>
          <a:xfrm>
            <a:off x="1280160" y="2148840"/>
            <a:ext cx="128016" cy="132588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8" name="Text 16"/>
          <p:cNvSpPr/>
          <p:nvPr/>
        </p:nvSpPr>
        <p:spPr>
          <a:xfrm>
            <a:off x="1737360" y="2377440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2834640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marketplace  ·  dashboard  ·  wallet connect (BSC + Base)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80160" y="3703320"/>
            <a:ext cx="15727680" cy="1325880"/>
          </a:xfrm>
          <a:prstGeom prst="roundRect">
            <a:avLst>
              <a:gd name="adj" fmla="val 6897"/>
            </a:avLst>
          </a:prstGeom>
          <a:solidFill>
            <a:srgbClr val="0A111A"/>
          </a:solidFill>
          <a:ln/>
        </p:spPr>
      </p:sp>
      <p:sp>
        <p:nvSpPr>
          <p:cNvPr id="21" name="Shape 19"/>
          <p:cNvSpPr/>
          <p:nvPr/>
        </p:nvSpPr>
        <p:spPr>
          <a:xfrm>
            <a:off x="1280160" y="3703320"/>
            <a:ext cx="128016" cy="1325880"/>
          </a:xfrm>
          <a:prstGeom prst="rect">
            <a:avLst/>
          </a:prstGeom>
          <a:solidFill>
            <a:srgbClr val="FF2BD6"/>
          </a:solidFill>
          <a:ln/>
        </p:spPr>
      </p:sp>
      <p:sp>
        <p:nvSpPr>
          <p:cNvPr id="22" name="Text 20"/>
          <p:cNvSpPr/>
          <p:nvPr/>
        </p:nvSpPr>
        <p:spPr>
          <a:xfrm>
            <a:off x="1737360" y="3931920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runtime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737360" y="4389120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ElizaOS swarms  ·  OpenClaw tools  ·  Nanobot light workers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80160" y="5257800"/>
            <a:ext cx="15727680" cy="1325880"/>
          </a:xfrm>
          <a:prstGeom prst="roundRect">
            <a:avLst>
              <a:gd name="adj" fmla="val 6897"/>
            </a:avLst>
          </a:prstGeom>
          <a:solidFill>
            <a:srgbClr val="0A111A"/>
          </a:solidFill>
          <a:ln/>
        </p:spPr>
      </p:sp>
      <p:sp>
        <p:nvSpPr>
          <p:cNvPr id="25" name="Shape 23"/>
          <p:cNvSpPr/>
          <p:nvPr/>
        </p:nvSpPr>
        <p:spPr>
          <a:xfrm>
            <a:off x="1280160" y="5257800"/>
            <a:ext cx="128016" cy="132588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1737360" y="5486400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Onchain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737360" y="5943600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AgentIdentityRegistry  ·  reputation  ·  optional name resolver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80160" y="6812280"/>
            <a:ext cx="15727680" cy="1325880"/>
          </a:xfrm>
          <a:prstGeom prst="roundRect">
            <a:avLst>
              <a:gd name="adj" fmla="val 6897"/>
            </a:avLst>
          </a:prstGeom>
          <a:solidFill>
            <a:srgbClr val="0A111A"/>
          </a:solidFill>
          <a:ln/>
        </p:spPr>
      </p:sp>
      <p:sp>
        <p:nvSpPr>
          <p:cNvPr id="29" name="Shape 27"/>
          <p:cNvSpPr/>
          <p:nvPr/>
        </p:nvSpPr>
        <p:spPr>
          <a:xfrm>
            <a:off x="1280160" y="6812280"/>
            <a:ext cx="128016" cy="1325880"/>
          </a:xfrm>
          <a:prstGeom prst="rect">
            <a:avLst/>
          </a:prstGeom>
          <a:solidFill>
            <a:srgbClr val="FF2BD6"/>
          </a:solidFill>
          <a:ln/>
        </p:spPr>
      </p:sp>
      <p:sp>
        <p:nvSpPr>
          <p:cNvPr id="30" name="Text 28"/>
          <p:cNvSpPr/>
          <p:nvPr/>
        </p:nvSpPr>
        <p:spPr>
          <a:xfrm>
            <a:off x="1737360" y="7040880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rails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737360" y="7498080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PancakeSwap  ·  Venus  ·  x402 settlement on BNB Chain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7532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SHIPS NOW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VERAGENT DEFI  ·  INDONESIA WEB3 HACKATHON 2026  ·  BNB CHAIN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BUILD STATUS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1417320"/>
            <a:ext cx="1554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foundation complete. BSC path live for the hackathon.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280160" y="2194560"/>
            <a:ext cx="7772400" cy="1783080"/>
          </a:xfrm>
          <a:prstGeom prst="roundRect">
            <a:avLst>
              <a:gd name="adj" fmla="val 5128"/>
            </a:avLst>
          </a:prstGeom>
          <a:solidFill>
            <a:srgbClr val="0A111A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2514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Contracts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AgentIdentityRegistry + AgentNameResolver (Solidity 0.8.28)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509760" y="2194560"/>
            <a:ext cx="7772400" cy="1783080"/>
          </a:xfrm>
          <a:prstGeom prst="roundRect">
            <a:avLst>
              <a:gd name="adj" fmla="val 5128"/>
            </a:avLst>
          </a:prstGeom>
          <a:solidFill>
            <a:srgbClr val="0A111A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2514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Networks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0" y="3017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Hardhat: BSC Testnet / Mainnet + Base Sepolia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80160" y="4206240"/>
            <a:ext cx="7772400" cy="1783080"/>
          </a:xfrm>
          <a:prstGeom prst="roundRect">
            <a:avLst>
              <a:gd name="adj" fmla="val 5128"/>
            </a:avLst>
          </a:prstGeom>
          <a:solidFill>
            <a:srgbClr val="0A111A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0" y="4526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50292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Wagmi/RainbowKit multi-chain config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509760" y="4206240"/>
            <a:ext cx="7772400" cy="1783080"/>
          </a:xfrm>
          <a:prstGeom prst="roundRect">
            <a:avLst>
              <a:gd name="adj" fmla="val 5128"/>
            </a:avLst>
          </a:prstGeom>
          <a:solidFill>
            <a:srgbClr val="0A111A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0" y="4526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Agents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75520" y="50292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EVM plugin + yield / trade / rebalance templates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80160" y="6217920"/>
            <a:ext cx="7772400" cy="1783080"/>
          </a:xfrm>
          <a:prstGeom prst="roundRect">
            <a:avLst>
              <a:gd name="adj" fmla="val 5128"/>
            </a:avLst>
          </a:prstGeom>
          <a:solidFill>
            <a:srgbClr val="0A111A"/>
          </a:solidFill>
          <a:ln/>
        </p:spPr>
      </p:sp>
      <p:sp>
        <p:nvSpPr>
          <p:cNvPr id="29" name="Text 27"/>
          <p:cNvSpPr/>
          <p:nvPr/>
        </p:nvSpPr>
        <p:spPr>
          <a:xfrm>
            <a:off x="1645920" y="6537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Shared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645920" y="7040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chains.ts with Pancake + Venus addresses on BSC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509760" y="6217920"/>
            <a:ext cx="7772400" cy="1783080"/>
          </a:xfrm>
          <a:prstGeom prst="roundRect">
            <a:avLst>
              <a:gd name="adj" fmla="val 5128"/>
            </a:avLst>
          </a:prstGeom>
          <a:solidFill>
            <a:srgbClr val="0A111A"/>
          </a:solidFill>
          <a:ln/>
        </p:spPr>
      </p:sp>
      <p:sp>
        <p:nvSpPr>
          <p:cNvPr id="32" name="Text 30"/>
          <p:cNvSpPr/>
          <p:nvPr/>
        </p:nvSpPr>
        <p:spPr>
          <a:xfrm>
            <a:off x="9875520" y="6537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Deploy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75520" y="7040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scripts/deploy-bsc.ts + shell wrapper for testnet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7532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90 DAYS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VERAGENT DEFI  ·  INDONESIA WEB3 HACKATHON 2026  ·  BNB CHAIN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ROADMAP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1417320"/>
            <a:ext cx="1463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MVP on BSC, then deepen autonomy.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280160" y="2286000"/>
            <a:ext cx="3840480" cy="5669280"/>
          </a:xfrm>
          <a:prstGeom prst="roundRect">
            <a:avLst>
              <a:gd name="adj" fmla="val 2857"/>
            </a:avLst>
          </a:prstGeom>
          <a:solidFill>
            <a:srgbClr val="0A111A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NOW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393192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deploy · registry live · pitch + demo · dual-track submit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94960" y="2286000"/>
            <a:ext cx="3840480" cy="5669280"/>
          </a:xfrm>
          <a:prstGeom prst="roundRect">
            <a:avLst>
              <a:gd name="adj" fmla="val 2857"/>
            </a:avLst>
          </a:prstGeom>
          <a:solidFill>
            <a:srgbClr val="0A111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MVP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Oct–Nov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69280" y="393192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first yield agent E2E · x402 fee path · public testnet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09760" y="2286000"/>
            <a:ext cx="3840480" cy="5669280"/>
          </a:xfrm>
          <a:prstGeom prst="roundRect">
            <a:avLst>
              <a:gd name="adj" fmla="val 2857"/>
            </a:avLst>
          </a:prstGeom>
          <a:solidFill>
            <a:srgbClr val="0A111A"/>
          </a:solidFill>
          <a:ln/>
        </p:spPr>
      </p:sp>
      <p:sp>
        <p:nvSpPr>
          <p:cNvPr id="25" name="Text 23"/>
          <p:cNvSpPr/>
          <p:nvPr/>
        </p:nvSpPr>
        <p:spPr>
          <a:xfrm>
            <a:off x="978408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BETA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8408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784080" y="393192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UI · agent wallets · beta users · gas tuning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624560" y="2286000"/>
            <a:ext cx="3840480" cy="5669280"/>
          </a:xfrm>
          <a:prstGeom prst="roundRect">
            <a:avLst>
              <a:gd name="adj" fmla="val 2857"/>
            </a:avLst>
          </a:prstGeom>
          <a:solidFill>
            <a:srgbClr val="0A111A"/>
          </a:solidFill>
          <a:ln/>
        </p:spPr>
      </p:sp>
      <p:sp>
        <p:nvSpPr>
          <p:cNvPr id="29" name="Text 27"/>
          <p:cNvSpPr/>
          <p:nvPr/>
        </p:nvSpPr>
        <p:spPr>
          <a:xfrm>
            <a:off x="1389888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SCALE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89888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3+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898880" y="393192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agents · multi-agent swarms · marketplace growth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02200" y="41148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76520" y="41148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0" y="9875520"/>
            <a:ext cx="274320" cy="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76520" y="9601200"/>
            <a:ext cx="0" cy="274320"/>
          </a:xfrm>
          <a:prstGeom prst="line">
            <a:avLst/>
          </a:prstGeom>
          <a:noFill/>
          <a:ln w="12700">
            <a:solidFill>
              <a:srgbClr val="6B7A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75320" y="292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6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US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97200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B7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VERAGENT DEFI  ·  INDONESIA WEB3 HACKATHON 2026  ·  BNB CHAIN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504920" y="9720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r" indent="0" marL="0">
              <a:buNone/>
            </a:pPr>
            <a:r>
              <a:rPr lang="en-US" sz="1300" spc="200" kern="0" dirty="0">
                <a:solidFill>
                  <a:srgbClr val="3A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10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777622" y="8062402"/>
            <a:ext cx="48979" cy="48979"/>
          </a:xfrm>
          <a:prstGeom prst="rect">
            <a:avLst/>
          </a:prstGeom>
          <a:solidFill>
            <a:srgbClr val="00F0FF">
              <a:alpha val="4814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943821" y="6025166"/>
            <a:ext cx="20014" cy="20014"/>
          </a:xfrm>
          <a:prstGeom prst="rect">
            <a:avLst/>
          </a:prstGeom>
          <a:solidFill>
            <a:srgbClr val="00F0FF">
              <a:alpha val="415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758487" y="3503390"/>
            <a:ext cx="42009" cy="42009"/>
          </a:xfrm>
          <a:prstGeom prst="rect">
            <a:avLst/>
          </a:prstGeom>
          <a:solidFill>
            <a:srgbClr val="00F0FF">
              <a:alpha val="3520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911372" y="2227237"/>
            <a:ext cx="22608" cy="22608"/>
          </a:xfrm>
          <a:prstGeom prst="rect">
            <a:avLst/>
          </a:prstGeom>
          <a:solidFill>
            <a:srgbClr val="00F0FF">
              <a:alpha val="4003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54733" y="4607591"/>
            <a:ext cx="28288" cy="28288"/>
          </a:xfrm>
          <a:prstGeom prst="rect">
            <a:avLst/>
          </a:prstGeom>
          <a:solidFill>
            <a:srgbClr val="00F0FF">
              <a:alpha val="4488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246055" y="5567414"/>
            <a:ext cx="42554" cy="42554"/>
          </a:xfrm>
          <a:prstGeom prst="rect">
            <a:avLst/>
          </a:prstGeom>
          <a:solidFill>
            <a:srgbClr val="00F0FF">
              <a:alpha val="4297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34769" y="8879030"/>
            <a:ext cx="33500" cy="33500"/>
          </a:xfrm>
          <a:prstGeom prst="rect">
            <a:avLst/>
          </a:prstGeom>
          <a:solidFill>
            <a:srgbClr val="00F0FF">
              <a:alpha val="3867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53772" y="3679282"/>
            <a:ext cx="42712" cy="42712"/>
          </a:xfrm>
          <a:prstGeom prst="rect">
            <a:avLst/>
          </a:prstGeom>
          <a:solidFill>
            <a:srgbClr val="00F0FF">
              <a:alpha val="6409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7389989" y="2249495"/>
            <a:ext cx="39469" cy="39469"/>
          </a:xfrm>
          <a:prstGeom prst="rect">
            <a:avLst/>
          </a:prstGeom>
          <a:solidFill>
            <a:srgbClr val="00F0FF">
              <a:alpha val="5582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1761812" y="1214430"/>
            <a:ext cx="20315" cy="20315"/>
          </a:xfrm>
          <a:prstGeom prst="rect">
            <a:avLst/>
          </a:prstGeom>
          <a:solidFill>
            <a:srgbClr val="00F0FF">
              <a:alpha val="4153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5573497" y="4006052"/>
            <a:ext cx="33947" cy="33947"/>
          </a:xfrm>
          <a:prstGeom prst="rect">
            <a:avLst/>
          </a:prstGeom>
          <a:solidFill>
            <a:srgbClr val="00F0FF">
              <a:alpha val="3670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050690" y="3505163"/>
            <a:ext cx="35422" cy="35422"/>
          </a:xfrm>
          <a:prstGeom prst="rect">
            <a:avLst/>
          </a:prstGeom>
          <a:solidFill>
            <a:srgbClr val="00F0FF">
              <a:alpha val="4123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43622" y="7568407"/>
            <a:ext cx="49729" cy="49729"/>
          </a:xfrm>
          <a:prstGeom prst="rect">
            <a:avLst/>
          </a:prstGeom>
          <a:solidFill>
            <a:srgbClr val="00F0FF">
              <a:alpha val="4614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65029" y="6353708"/>
            <a:ext cx="36666" cy="36666"/>
          </a:xfrm>
          <a:prstGeom prst="rect">
            <a:avLst/>
          </a:prstGeom>
          <a:solidFill>
            <a:srgbClr val="00F0FF">
              <a:alpha val="5022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51438" y="910509"/>
            <a:ext cx="33078" cy="33078"/>
          </a:xfrm>
          <a:prstGeom prst="rect">
            <a:avLst/>
          </a:prstGeom>
          <a:solidFill>
            <a:srgbClr val="00F0FF">
              <a:alpha val="5672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7003478" y="1137612"/>
            <a:ext cx="28395" cy="28395"/>
          </a:xfrm>
          <a:prstGeom prst="rect">
            <a:avLst/>
          </a:prstGeom>
          <a:solidFill>
            <a:srgbClr val="00F0FF">
              <a:alpha val="4998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442368" y="2298343"/>
            <a:ext cx="21530" cy="21530"/>
          </a:xfrm>
          <a:prstGeom prst="rect">
            <a:avLst/>
          </a:prstGeom>
          <a:solidFill>
            <a:srgbClr val="00F0FF">
              <a:alpha val="4214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15512" y="4421062"/>
            <a:ext cx="35105" cy="35105"/>
          </a:xfrm>
          <a:prstGeom prst="rect">
            <a:avLst/>
          </a:prstGeom>
          <a:solidFill>
            <a:srgbClr val="00F0FF">
              <a:alpha val="397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5983221" y="1067295"/>
            <a:ext cx="22989" cy="22989"/>
          </a:xfrm>
          <a:prstGeom prst="rect">
            <a:avLst/>
          </a:prstGeom>
          <a:solidFill>
            <a:srgbClr val="00F0FF">
              <a:alpha val="50561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3547353" y="1795484"/>
            <a:ext cx="23212" cy="23212"/>
          </a:xfrm>
          <a:prstGeom prst="rect">
            <a:avLst/>
          </a:prstGeom>
          <a:solidFill>
            <a:srgbClr val="FF2BD6">
              <a:alpha val="39966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984753" y="5612913"/>
            <a:ext cx="44170" cy="44170"/>
          </a:xfrm>
          <a:prstGeom prst="rect">
            <a:avLst/>
          </a:prstGeom>
          <a:solidFill>
            <a:srgbClr val="00F0FF">
              <a:alpha val="4789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715411" y="8123265"/>
            <a:ext cx="36177" cy="36177"/>
          </a:xfrm>
          <a:prstGeom prst="rect">
            <a:avLst/>
          </a:prstGeom>
          <a:solidFill>
            <a:srgbClr val="00F0FF">
              <a:alpha val="4537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6612545" y="5610943"/>
            <a:ext cx="44377" cy="44377"/>
          </a:xfrm>
          <a:prstGeom prst="rect">
            <a:avLst/>
          </a:prstGeom>
          <a:solidFill>
            <a:srgbClr val="FF2BD6">
              <a:alpha val="41191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2991721" y="5251872"/>
            <a:ext cx="30935" cy="30935"/>
          </a:xfrm>
          <a:prstGeom prst="rect">
            <a:avLst/>
          </a:prstGeom>
          <a:solidFill>
            <a:srgbClr val="00F0FF">
              <a:alpha val="4859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3823328" y="4691893"/>
            <a:ext cx="38624" cy="38624"/>
          </a:xfrm>
          <a:prstGeom prst="rect">
            <a:avLst/>
          </a:prstGeom>
          <a:solidFill>
            <a:srgbClr val="00F0FF">
              <a:alpha val="6192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79784" y="5320810"/>
            <a:ext cx="23685" cy="23685"/>
          </a:xfrm>
          <a:prstGeom prst="rect">
            <a:avLst/>
          </a:prstGeom>
          <a:solidFill>
            <a:srgbClr val="00F0FF">
              <a:alpha val="4331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678255" y="4103747"/>
            <a:ext cx="30073" cy="30073"/>
          </a:xfrm>
          <a:prstGeom prst="rect">
            <a:avLst/>
          </a:prstGeom>
          <a:solidFill>
            <a:srgbClr val="00F0FF">
              <a:alpha val="3935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5548811" y="728708"/>
            <a:ext cx="32996" cy="32996"/>
          </a:xfrm>
          <a:prstGeom prst="rect">
            <a:avLst/>
          </a:prstGeom>
          <a:solidFill>
            <a:srgbClr val="00F0FF">
              <a:alpha val="3770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1163070" y="1690894"/>
            <a:ext cx="27811" cy="27811"/>
          </a:xfrm>
          <a:prstGeom prst="rect">
            <a:avLst/>
          </a:prstGeom>
          <a:solidFill>
            <a:srgbClr val="00F0FF">
              <a:alpha val="4384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0858356" y="2934351"/>
            <a:ext cx="44250" cy="44250"/>
          </a:xfrm>
          <a:prstGeom prst="rect">
            <a:avLst/>
          </a:prstGeom>
          <a:solidFill>
            <a:srgbClr val="00F0FF">
              <a:alpha val="4768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5324421" y="6189240"/>
            <a:ext cx="21960" cy="21960"/>
          </a:xfrm>
          <a:prstGeom prst="rect">
            <a:avLst/>
          </a:prstGeom>
          <a:solidFill>
            <a:srgbClr val="00F0FF">
              <a:alpha val="6022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513522" y="4676726"/>
            <a:ext cx="27418" cy="27418"/>
          </a:xfrm>
          <a:prstGeom prst="rect">
            <a:avLst/>
          </a:prstGeom>
          <a:solidFill>
            <a:srgbClr val="00F0FF">
              <a:alpha val="4028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583143" y="2509492"/>
            <a:ext cx="44128" cy="44128"/>
          </a:xfrm>
          <a:prstGeom prst="rect">
            <a:avLst/>
          </a:prstGeom>
          <a:solidFill>
            <a:srgbClr val="00F0FF">
              <a:alpha val="41084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4582717" y="3459860"/>
            <a:ext cx="40186" cy="40186"/>
          </a:xfrm>
          <a:prstGeom prst="rect">
            <a:avLst/>
          </a:prstGeom>
          <a:solidFill>
            <a:srgbClr val="00F0FF">
              <a:alpha val="36987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554420" y="5854395"/>
            <a:ext cx="25173" cy="25173"/>
          </a:xfrm>
          <a:prstGeom prst="rect">
            <a:avLst/>
          </a:prstGeom>
          <a:solidFill>
            <a:srgbClr val="FF2BD6">
              <a:alpha val="60119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475898" y="3594980"/>
            <a:ext cx="32376" cy="32376"/>
          </a:xfrm>
          <a:prstGeom prst="rect">
            <a:avLst/>
          </a:prstGeom>
          <a:solidFill>
            <a:srgbClr val="00F0FF">
              <a:alpha val="4705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4756260" y="2496098"/>
            <a:ext cx="26335" cy="26335"/>
          </a:xfrm>
          <a:prstGeom prst="rect">
            <a:avLst/>
          </a:prstGeom>
          <a:solidFill>
            <a:srgbClr val="00F0FF">
              <a:alpha val="5548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2718326" y="5989712"/>
            <a:ext cx="23742" cy="23742"/>
          </a:xfrm>
          <a:prstGeom prst="rect">
            <a:avLst/>
          </a:prstGeom>
          <a:solidFill>
            <a:srgbClr val="00F0FF">
              <a:alpha val="40858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778459" y="6956626"/>
            <a:ext cx="43663" cy="43663"/>
          </a:xfrm>
          <a:prstGeom prst="rect">
            <a:avLst/>
          </a:prstGeom>
          <a:solidFill>
            <a:srgbClr val="00F0FF">
              <a:alpha val="6309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7277610" y="4063763"/>
            <a:ext cx="47080" cy="47080"/>
          </a:xfrm>
          <a:prstGeom prst="rect">
            <a:avLst/>
          </a:prstGeom>
          <a:solidFill>
            <a:srgbClr val="00F0FF">
              <a:alpha val="53210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1247078" y="5848486"/>
            <a:ext cx="25794" cy="25794"/>
          </a:xfrm>
          <a:prstGeom prst="rect">
            <a:avLst/>
          </a:prstGeom>
          <a:solidFill>
            <a:srgbClr val="00F0FF">
              <a:alpha val="39999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14106" y="4170519"/>
            <a:ext cx="48654" cy="48654"/>
          </a:xfrm>
          <a:prstGeom prst="rect">
            <a:avLst/>
          </a:prstGeom>
          <a:solidFill>
            <a:srgbClr val="FF2BD6">
              <a:alpha val="56704"/>
            </a:srgbClr>
          </a:solidFill>
          <a:ln/>
          <a:effectLst>
            <a:outerShdw sx="100000" sy="100000" kx="0" ky="0" algn="bl" rotWithShape="0" blurRad="38100" dist="6350" dir="16200000">
              <a:srgbClr val="FF2BD6">
                <a:alpha val="6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388606" y="8928666"/>
            <a:ext cx="41081" cy="41081"/>
          </a:xfrm>
          <a:prstGeom prst="rect">
            <a:avLst/>
          </a:prstGeom>
          <a:solidFill>
            <a:srgbClr val="00F0FF">
              <a:alpha val="57675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573236" y="6196528"/>
            <a:ext cx="33995" cy="33995"/>
          </a:xfrm>
          <a:prstGeom prst="rect">
            <a:avLst/>
          </a:prstGeom>
          <a:solidFill>
            <a:srgbClr val="00F0FF">
              <a:alpha val="55043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1724680" y="5192190"/>
            <a:ext cx="50014" cy="50014"/>
          </a:xfrm>
          <a:prstGeom prst="rect">
            <a:avLst/>
          </a:prstGeom>
          <a:solidFill>
            <a:srgbClr val="00F0FF">
              <a:alpha val="55382"/>
            </a:srgbClr>
          </a:solidFill>
          <a:ln/>
          <a:effectLst>
            <a:outerShdw sx="100000" sy="100000" kx="0" ky="0" algn="bl" rotWithShape="0" blurRad="38100" dist="6350" dir="16200000">
              <a:srgbClr val="00F0FF">
                <a:alpha val="6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1280160" y="2377440"/>
            <a:ext cx="1554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Demo Day.</a:t>
            </a:r>
            <a:endParaRPr lang="en-US" sz="3600" dirty="0"/>
          </a:p>
        </p:txBody>
      </p:sp>
      <p:sp>
        <p:nvSpPr>
          <p:cNvPr id="60" name="Text 58"/>
          <p:cNvSpPr/>
          <p:nvPr/>
        </p:nvSpPr>
        <p:spPr>
          <a:xfrm>
            <a:off x="1280160" y="3200400"/>
            <a:ext cx="1463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Veragent turns DeFi from dashboards into autonomous agents —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BNB Chain, with onchain trust and self-funding rails.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1280160" y="4572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Repo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840480" y="4572000"/>
            <a:ext cx="1188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github.com/abraham-yusuf/Veragent-DeFi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280160" y="5349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Builder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3840480" y="5349240"/>
            <a:ext cx="1188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 Yusuf  ·  @bram0511  ·  Web3ID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280160" y="6126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Tracks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3840480" y="6126480"/>
            <a:ext cx="1188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 +  Finance &amp; Commerce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280160" y="6903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0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Chain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3840480" y="6903720"/>
            <a:ext cx="1188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BNB Smart Chain  ·  #WhereBuildersBuild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Veragent DeFi — Indonesia Web3 Hackathon 2026</dc:title>
  <dc:subject>AI Agents x DeFi on BNB Chain</dc:subject>
  <dc:creator>Abraham Yusuf</dc:creator>
  <cp:lastModifiedBy>Abraham Yusuf</cp:lastModifiedBy>
  <cp:revision>1</cp:revision>
  <dcterms:created xsi:type="dcterms:W3CDTF">2026-09-29T16:30:48Z</dcterms:created>
  <dcterms:modified xsi:type="dcterms:W3CDTF">2026-09-29T16:30:48Z</dcterms:modified>
</cp:coreProperties>
</file>